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4C80589-4F17-C220-D7B9-B1F6E98C8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079A3247-6F27-D712-710A-895FAC612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4C0A2C98-B7C5-4616-7848-6F9C997E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A76EE84-804B-BF03-5814-900E9DDC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6003B9B5-C5C3-ACA7-EECE-8DB080CF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42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E76A220-3116-BECF-3D18-1514269F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6DDBDF2-5E11-04AE-83D9-69A8C165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31C3448-4714-84A6-08BC-76CDB58E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E6A3602-1254-5FE1-26B6-040DE782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BE5FEA1D-BA1A-8C0B-DFF3-AEC6EA9A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16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A56B9E7-A195-D666-C728-8ECF0FBF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1781C0E-1A43-BEE8-2E4E-3B3EFD48E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79B2886-70E6-D750-0800-DE2B65AA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AF2A1EF1-EDCC-2238-33C4-1917668F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0697768-4D88-29FB-F9BE-059B65CD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8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49ACB77-3940-6908-6FCF-A0477BBD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095AF39-88F5-B58D-AEC5-659E9BBD4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E41CCBF-A859-D65F-C302-049FE50DC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BBBC4F75-3E1B-C543-1D3C-7BEC9F03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8DF83361-0898-84A1-5AF5-1993ECE6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94B0F6CB-759F-42B1-FD91-00CEC455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9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5AE74AA-5CCA-6C61-B84C-E02596B1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42124DC4-46F2-D598-3CD4-C2409398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8471B4C-59D0-CE2F-4F2A-306BB8230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0CC7863A-C702-3A5C-1120-90606084F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781DC462-3C1D-812E-7B01-135BE9E29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66366097-6F8F-6832-FBB8-4BECA928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2B532187-2BE9-C743-BBC1-F548A26B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9AD41421-9CEB-37F1-1C2C-C47E2FFD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32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B784340-F29C-47B1-1025-533370FF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8B95E8F1-960C-46B3-AA60-4B9F9592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D0BB1A9F-A6B2-F4A6-AA49-E51E7FD1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9D6BBF39-C2B2-83A6-A77D-3A9A6FE2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9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3FE6B38F-0612-C612-D681-DC3AF4BE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6FCB3E35-B6BE-B2BB-28B0-AA3BB043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741EB465-CA53-9CF0-104A-D0AAF506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62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76F1F56-594E-0ED7-C4C1-8F00CFCC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BFCD14F-BE42-3F79-03EE-17EFBE36F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5DAF88E6-CDA3-90AE-238A-847E4C8FA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AA390490-B786-4255-E0E7-FA89B35C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58FDD6FE-3EF3-3DCA-3861-C70EE019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63D53B6E-A582-F4FE-0554-CCEDEF72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4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2D3DD8B-43F8-43BD-9234-C3E03A34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3D7C11BC-8405-755B-B429-A8DE7196F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020A1B56-D62A-C979-AE0A-97E7A3BA5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13806CD3-4E46-9C99-9E8E-E42B2539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940FD61F-3483-6571-F938-A0385CE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BBB9276A-A874-4DE8-DF2E-30DC1BDC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60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12EA4B9-3B15-F084-0912-85E65113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B1423605-DAB8-1248-0A4A-45B633D58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F899B7A-39B2-848D-5C57-9E8881A8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0F79648-F769-C368-4510-BD58E78F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AF984CA-F98A-BA61-4AA2-924699B3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90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396BD847-47B2-8FBC-1FF4-A5ADF83A5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01E9183A-0983-AECD-AAD6-576214B17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2E31EB5-5C63-864C-AFB6-8EB7F53F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7B4B9232-1728-7A3A-91D3-BD4BE049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AD2B7FA-FBA9-2374-7743-AEB43A90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48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D59B0DF-1447-5B2C-60A1-84064AC3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97FAA923-A09D-4079-237E-5FF051F81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23A50BE2-345D-A194-B52C-1C1C382AC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C4C3C-DC26-44CB-A963-7EF0635D8B47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B6DE3BD-291A-C8B3-669C-C9455089C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D70291C0-E50C-D549-648C-A2B044A12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3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95625EA-4CE0-894C-744E-9382AD3FBD27}"/>
              </a:ext>
            </a:extLst>
          </p:cNvPr>
          <p:cNvSpPr txBox="1"/>
          <p:nvPr/>
        </p:nvSpPr>
        <p:spPr>
          <a:xfrm>
            <a:off x="0" y="65097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Одночастотное библиографическое описание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BB9996A-D373-5FCC-16BE-A71E6B03C947}"/>
              </a:ext>
            </a:extLst>
          </p:cNvPr>
          <p:cNvSpPr txBox="1"/>
          <p:nvPr/>
        </p:nvSpPr>
        <p:spPr>
          <a:xfrm>
            <a:off x="681318" y="1669031"/>
            <a:ext cx="10829364" cy="2247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Одночастотное библиографическое описание используется для: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Книг под фамилией автора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Книг под заглавием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Сборников статей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780AC9D-72DD-D076-DE73-7CA252DB7D8A}"/>
              </a:ext>
            </a:extLst>
          </p:cNvPr>
          <p:cNvSpPr txBox="1"/>
          <p:nvPr/>
        </p:nvSpPr>
        <p:spPr>
          <a:xfrm>
            <a:off x="0" y="370061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Пример: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448" y="4677184"/>
            <a:ext cx="7286678" cy="140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5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8EF1ADA-889A-1BD1-789F-12F5AB22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64A94B8-06D2-D379-6CFA-1EC700CEBA71}"/>
              </a:ext>
            </a:extLst>
          </p:cNvPr>
          <p:cNvSpPr txBox="1"/>
          <p:nvPr/>
        </p:nvSpPr>
        <p:spPr>
          <a:xfrm>
            <a:off x="0" y="33316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latin typeface="Fira Sans ExtraBold" panose="020B0903050000020004" pitchFamily="34" charset="0"/>
              </a:rPr>
              <a:t>Библиографическое описание научно-квалификационных и законодательных ресурсов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634040-4F69-A15A-5011-4D2E3AFA3AA0}"/>
              </a:ext>
            </a:extLst>
          </p:cNvPr>
          <p:cNvSpPr txBox="1"/>
          <p:nvPr/>
        </p:nvSpPr>
        <p:spPr>
          <a:xfrm>
            <a:off x="681318" y="1669031"/>
            <a:ext cx="10829364" cy="235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Библиографическое описание научно-квалификационных и законодательных ресурсов используется для: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Диссертаций и авторефератов;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Нормативных правовых актов.</a:t>
            </a:r>
          </a:p>
          <a:p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6D85CB1D-8904-E76D-F35F-33165794DCA1}"/>
              </a:ext>
            </a:extLst>
          </p:cNvPr>
          <p:cNvSpPr txBox="1"/>
          <p:nvPr/>
        </p:nvSpPr>
        <p:spPr>
          <a:xfrm>
            <a:off x="0" y="370061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Пример: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26" y="4547970"/>
            <a:ext cx="8043921" cy="163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23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84037F6-03A2-6BFB-61A4-0C9E730F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6F1A3E0-041B-1642-A156-1997C754E197}"/>
              </a:ext>
            </a:extLst>
          </p:cNvPr>
          <p:cNvSpPr txBox="1"/>
          <p:nvPr/>
        </p:nvSpPr>
        <p:spPr>
          <a:xfrm>
            <a:off x="0" y="41339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Многочастотное библиографическое описание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91550AE-E0E9-9CAC-6C3D-9B725D8036B9}"/>
              </a:ext>
            </a:extLst>
          </p:cNvPr>
          <p:cNvSpPr txBox="1"/>
          <p:nvPr/>
        </p:nvSpPr>
        <p:spPr>
          <a:xfrm>
            <a:off x="681318" y="1669031"/>
            <a:ext cx="10829364" cy="1954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Многочастотное библиографическое описание используется для: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Изданий в целом;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Отдельных томов многотомного издания.</a:t>
            </a:r>
          </a:p>
          <a:p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7079DDA-973C-7D1A-8ED4-087FE1DE741D}"/>
              </a:ext>
            </a:extLst>
          </p:cNvPr>
          <p:cNvSpPr txBox="1"/>
          <p:nvPr/>
        </p:nvSpPr>
        <p:spPr>
          <a:xfrm>
            <a:off x="0" y="370061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Пример: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8" y="4768584"/>
            <a:ext cx="11089726" cy="120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20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3F34774-411E-1EAF-4978-DC61C96F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1450F55-539D-E3FE-743A-8F6D619AC3F7}"/>
              </a:ext>
            </a:extLst>
          </p:cNvPr>
          <p:cNvSpPr txBox="1"/>
          <p:nvPr/>
        </p:nvSpPr>
        <p:spPr>
          <a:xfrm>
            <a:off x="681318" y="2157324"/>
            <a:ext cx="10829364" cy="206819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Статей из журнала или газеты;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Статей из сборника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 или разделов книги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Рецензий, интервью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Периодических изданий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D045F0F-126D-67C1-82E7-209BE6FE7850}"/>
              </a:ext>
            </a:extLst>
          </p:cNvPr>
          <p:cNvSpPr txBox="1"/>
          <p:nvPr/>
        </p:nvSpPr>
        <p:spPr>
          <a:xfrm>
            <a:off x="820270" y="314384"/>
            <a:ext cx="10551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Библиографическое </a:t>
            </a:r>
            <a:r>
              <a:rPr lang="ru-RU" sz="4000" b="1" dirty="0" smtClean="0">
                <a:latin typeface="Fira Sans ExtraBold" panose="020B0903050000020004" pitchFamily="34" charset="0"/>
              </a:rPr>
              <a:t>описание составной </a:t>
            </a:r>
            <a:r>
              <a:rPr lang="ru-RU" sz="4000" b="1" dirty="0">
                <a:latin typeface="Fira Sans ExtraBold" panose="020B0903050000020004" pitchFamily="34" charset="0"/>
              </a:rPr>
              <a:t>части ресурса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F45CBFD-E407-7264-843E-18CBF47789D4}"/>
              </a:ext>
            </a:extLst>
          </p:cNvPr>
          <p:cNvSpPr txBox="1"/>
          <p:nvPr/>
        </p:nvSpPr>
        <p:spPr>
          <a:xfrm>
            <a:off x="681318" y="1669031"/>
            <a:ext cx="10829364" cy="468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Библиографическое описание составной части ресурса используется для: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3B31230-3CF2-7F1F-45C3-FA115844F24E}"/>
              </a:ext>
            </a:extLst>
          </p:cNvPr>
          <p:cNvSpPr txBox="1"/>
          <p:nvPr/>
        </p:nvSpPr>
        <p:spPr>
          <a:xfrm>
            <a:off x="0" y="370061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Пример: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0" y="4703852"/>
            <a:ext cx="11371592" cy="12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109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58C0F0D-CFF1-4937-54BF-F46F8DAD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615B050-D939-2A02-F4D8-3B4C1A9B583E}"/>
              </a:ext>
            </a:extLst>
          </p:cNvPr>
          <p:cNvSpPr txBox="1"/>
          <p:nvPr/>
        </p:nvSpPr>
        <p:spPr>
          <a:xfrm>
            <a:off x="0" y="413449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Библиографическое описание электронных ресурсов сетевого распространения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4AFA889-70B2-38A2-9FCB-F109C4A2DB66}"/>
              </a:ext>
            </a:extLst>
          </p:cNvPr>
          <p:cNvSpPr txBox="1"/>
          <p:nvPr/>
        </p:nvSpPr>
        <p:spPr>
          <a:xfrm>
            <a:off x="681318" y="1669031"/>
            <a:ext cx="10829364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Библиографическое описание электронных ресурсов сетевого распространения используется для: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Печатных книг вместе с её электронной версией;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Публикаций с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-сайта или из интернет-издания;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Сайтов, баз данных.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EA03D0A-C8F4-6066-1B59-E27E7ACBD01C}"/>
              </a:ext>
            </a:extLst>
          </p:cNvPr>
          <p:cNvSpPr txBox="1"/>
          <p:nvPr/>
        </p:nvSpPr>
        <p:spPr>
          <a:xfrm>
            <a:off x="0" y="420022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Fira Sans ExtraBold" panose="020B0903050000020004" pitchFamily="34" charset="0"/>
              </a:rPr>
              <a:t>Пример: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t="6408" b="1"/>
          <a:stretch/>
        </p:blipFill>
        <p:spPr>
          <a:xfrm>
            <a:off x="2098687" y="5273974"/>
            <a:ext cx="8231098" cy="74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027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142</Words>
  <Application>Microsoft Office PowerPoint</Application>
  <PresentationFormat>Широкоэкранный</PresentationFormat>
  <Paragraphs>32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Fira Sans ExtraBold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Ζεαιγς Penguin</dc:creator>
  <cp:lastModifiedBy>Mi</cp:lastModifiedBy>
  <cp:revision>7</cp:revision>
  <dcterms:created xsi:type="dcterms:W3CDTF">2024-11-25T13:03:26Z</dcterms:created>
  <dcterms:modified xsi:type="dcterms:W3CDTF">2024-12-07T13:35:14Z</dcterms:modified>
</cp:coreProperties>
</file>